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8288000" cy="10287000"/>
  <p:notesSz cx="6858000" cy="9144000"/>
  <p:embeddedFontLst>
    <p:embeddedFont>
      <p:font typeface="Arbutus Slab" panose="02000000000000000000"/>
      <p:regular r:id="rId16"/>
    </p:embeddedFont>
    <p:embeddedFont>
      <p:font typeface="Calibri" panose="020F050202020403020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>
        <p:scale>
          <a:sx n="50" d="100"/>
          <a:sy n="50" d="100"/>
        </p:scale>
        <p:origin x="946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9089044" y="72873"/>
            <a:ext cx="9197973" cy="3805661"/>
          </a:xfrm>
          <a:custGeom>
            <a:avLst/>
            <a:gdLst/>
            <a:ahLst/>
            <a:cxnLst/>
            <a:rect l="l" t="t" r="r" b="b"/>
            <a:pathLst>
              <a:path w="9197973" h="3805661">
                <a:moveTo>
                  <a:pt x="0" y="3805662"/>
                </a:moveTo>
                <a:lnTo>
                  <a:pt x="9197974" y="3805662"/>
                </a:lnTo>
                <a:lnTo>
                  <a:pt x="9197974" y="0"/>
                </a:lnTo>
                <a:lnTo>
                  <a:pt x="0" y="0"/>
                </a:lnTo>
                <a:lnTo>
                  <a:pt x="0" y="3805662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045328" y="7487299"/>
            <a:ext cx="7650771" cy="3165507"/>
          </a:xfrm>
          <a:custGeom>
            <a:avLst/>
            <a:gdLst/>
            <a:ahLst/>
            <a:cxnLst/>
            <a:rect l="l" t="t" r="r" b="b"/>
            <a:pathLst>
              <a:path w="7650771" h="3165507">
                <a:moveTo>
                  <a:pt x="7650771" y="0"/>
                </a:moveTo>
                <a:lnTo>
                  <a:pt x="0" y="0"/>
                </a:lnTo>
                <a:lnTo>
                  <a:pt x="0" y="3165506"/>
                </a:lnTo>
                <a:lnTo>
                  <a:pt x="7650771" y="3165506"/>
                </a:lnTo>
                <a:lnTo>
                  <a:pt x="7650771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289914" y="3174189"/>
            <a:ext cx="15598260" cy="2556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95"/>
              </a:lnSpc>
              <a:spcBef>
                <a:spcPct val="0"/>
              </a:spcBef>
            </a:pPr>
            <a:r>
              <a:rPr lang="en-US" sz="7495" b="1" dirty="0">
                <a:solidFill>
                  <a:srgbClr val="27364C"/>
                </a:solidFill>
                <a:latin typeface="Sondos Bold" panose="00000800000000000000"/>
                <a:ea typeface="Sondos Bold" panose="00000800000000000000"/>
                <a:cs typeface="Sondos Bold" panose="00000800000000000000"/>
                <a:sym typeface="Sondos Bold" panose="00000800000000000000"/>
              </a:rPr>
              <a:t>Smart CO₂ Monitoring &amp; MOF</a:t>
            </a:r>
            <a:endParaRPr lang="en-US" sz="7495" b="1" dirty="0">
              <a:solidFill>
                <a:srgbClr val="27364C"/>
              </a:solidFill>
              <a:latin typeface="Sondos Bold" panose="00000800000000000000"/>
              <a:ea typeface="Sondos Bold" panose="00000800000000000000"/>
              <a:cs typeface="Sondos Bold" panose="00000800000000000000"/>
              <a:sym typeface="Sondos Bold" panose="00000800000000000000"/>
            </a:endParaRPr>
          </a:p>
          <a:p>
            <a:pPr algn="ctr">
              <a:lnSpc>
                <a:spcPts val="10495"/>
              </a:lnSpc>
              <a:spcBef>
                <a:spcPct val="0"/>
              </a:spcBef>
            </a:pPr>
            <a:r>
              <a:rPr lang="en-US" sz="7495" b="1" dirty="0">
                <a:solidFill>
                  <a:srgbClr val="27364C"/>
                </a:solidFill>
                <a:latin typeface="Sondos Bold" panose="00000800000000000000"/>
                <a:ea typeface="Sondos Bold" panose="00000800000000000000"/>
                <a:cs typeface="Sondos Bold" panose="00000800000000000000"/>
                <a:sym typeface="Sondos Bold" panose="00000800000000000000"/>
              </a:rPr>
              <a:t>Simulation</a:t>
            </a:r>
            <a:endParaRPr lang="en-US" sz="7495" b="1" dirty="0">
              <a:solidFill>
                <a:srgbClr val="27364C"/>
              </a:solidFill>
              <a:latin typeface="Sondos Bold" panose="00000800000000000000"/>
              <a:ea typeface="Sondos Bold" panose="00000800000000000000"/>
              <a:cs typeface="Sondos Bold" panose="00000800000000000000"/>
              <a:sym typeface="Sondos Bold" panose="000008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88039" y="4930514"/>
            <a:ext cx="16571261" cy="4845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05"/>
              </a:lnSpc>
            </a:pPr>
            <a:endParaRPr lang="en-US" sz="4075" b="1" dirty="0">
              <a:solidFill>
                <a:srgbClr val="27364C"/>
              </a:solidFill>
              <a:latin typeface="Sondos Bold" panose="00000800000000000000"/>
              <a:ea typeface="Sondos Bold" panose="00000800000000000000"/>
              <a:cs typeface="Sondos Bold" panose="00000800000000000000"/>
              <a:sym typeface="Sondos Bold" panose="00000800000000000000"/>
            </a:endParaRPr>
          </a:p>
          <a:p>
            <a:pPr algn="ctr">
              <a:lnSpc>
                <a:spcPts val="5705"/>
              </a:lnSpc>
            </a:pPr>
            <a:endParaRPr lang="en-US" sz="4075" b="1" dirty="0">
              <a:solidFill>
                <a:srgbClr val="27364C"/>
              </a:solidFill>
              <a:latin typeface="Sondos Bold" panose="00000800000000000000"/>
              <a:ea typeface="Sondos Bold" panose="00000800000000000000"/>
              <a:cs typeface="Sondos Bold" panose="00000800000000000000"/>
              <a:sym typeface="Sondos Bold" panose="00000800000000000000"/>
            </a:endParaRPr>
          </a:p>
          <a:p>
            <a:pPr algn="ctr">
              <a:lnSpc>
                <a:spcPts val="5705"/>
              </a:lnSpc>
            </a:pPr>
            <a:r>
              <a:rPr lang="en-US" sz="4075" b="1" dirty="0">
                <a:solidFill>
                  <a:srgbClr val="27364C"/>
                </a:solidFill>
                <a:latin typeface="Sondos Bold" panose="00000800000000000000"/>
                <a:ea typeface="Sondos Bold" panose="00000800000000000000"/>
                <a:cs typeface="Sondos Bold" panose="00000800000000000000"/>
                <a:sym typeface="Sondos Bold" panose="00000800000000000000"/>
              </a:rPr>
              <a:t>PRESENTED BY :</a:t>
            </a:r>
            <a:endParaRPr lang="en-US" sz="4075" b="1" dirty="0">
              <a:solidFill>
                <a:srgbClr val="27364C"/>
              </a:solidFill>
              <a:latin typeface="Sondos Bold" panose="00000800000000000000"/>
              <a:ea typeface="Sondos Bold" panose="00000800000000000000"/>
              <a:cs typeface="Sondos Bold" panose="00000800000000000000"/>
              <a:sym typeface="Sondos Bold" panose="00000800000000000000"/>
            </a:endParaRPr>
          </a:p>
          <a:p>
            <a:pPr algn="ctr">
              <a:lnSpc>
                <a:spcPts val="6320"/>
              </a:lnSpc>
            </a:pPr>
            <a:r>
              <a:rPr lang="en-US" sz="4000" b="1" dirty="0">
                <a:solidFill>
                  <a:srgbClr val="27364C"/>
                </a:solidFill>
                <a:latin typeface="Sondos Bold" panose="00000800000000000000"/>
                <a:ea typeface="Sondos Bold" panose="00000800000000000000"/>
                <a:cs typeface="Sondos Bold" panose="00000800000000000000"/>
                <a:sym typeface="Sondos Bold" panose="00000800000000000000"/>
              </a:rPr>
              <a:t>Hack Divas</a:t>
            </a:r>
            <a:endParaRPr lang="en-US" sz="4000" b="1" dirty="0">
              <a:solidFill>
                <a:srgbClr val="27364C"/>
              </a:solidFill>
              <a:latin typeface="Sondos Bold" panose="00000800000000000000"/>
              <a:ea typeface="Sondos Bold" panose="00000800000000000000"/>
              <a:cs typeface="Sondos Bold" panose="00000800000000000000"/>
              <a:sym typeface="Sondos Bold" panose="00000800000000000000"/>
            </a:endParaRPr>
          </a:p>
          <a:p>
            <a:pPr algn="ctr">
              <a:lnSpc>
                <a:spcPts val="4935"/>
              </a:lnSpc>
            </a:pPr>
            <a:r>
              <a:rPr lang="en-US" sz="3525" dirty="0" err="1">
                <a:solidFill>
                  <a:srgbClr val="27364C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Nighaar</a:t>
            </a:r>
            <a:r>
              <a:rPr lang="en-US" sz="3525" dirty="0">
                <a:solidFill>
                  <a:srgbClr val="27364C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 Taneem</a:t>
            </a:r>
            <a:endParaRPr lang="en-US" sz="3525" dirty="0">
              <a:solidFill>
                <a:srgbClr val="27364C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  <a:p>
            <a:pPr algn="ctr">
              <a:lnSpc>
                <a:spcPts val="4935"/>
              </a:lnSpc>
            </a:pPr>
            <a:r>
              <a:rPr lang="en-US" sz="3525" dirty="0" err="1">
                <a:solidFill>
                  <a:srgbClr val="27364C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P.Sravika</a:t>
            </a:r>
            <a:r>
              <a:rPr lang="en-US" sz="3525" dirty="0">
                <a:solidFill>
                  <a:srgbClr val="27364C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 </a:t>
            </a:r>
            <a:endParaRPr lang="en-US" sz="3525" dirty="0">
              <a:solidFill>
                <a:srgbClr val="27364C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  <a:p>
            <a:pPr algn="ctr">
              <a:lnSpc>
                <a:spcPts val="5090"/>
              </a:lnSpc>
              <a:spcBef>
                <a:spcPct val="0"/>
              </a:spcBef>
            </a:pPr>
            <a:r>
              <a:rPr lang="en-US" sz="3635" dirty="0" err="1">
                <a:solidFill>
                  <a:srgbClr val="27364C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M.Sreehaasa</a:t>
            </a:r>
            <a:endParaRPr lang="en-US" sz="3635" dirty="0">
              <a:solidFill>
                <a:srgbClr val="27364C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1527385" y="-33184"/>
            <a:ext cx="6760615" cy="2797205"/>
          </a:xfrm>
          <a:custGeom>
            <a:avLst/>
            <a:gdLst/>
            <a:ahLst/>
            <a:cxnLst/>
            <a:rect l="l" t="t" r="r" b="b"/>
            <a:pathLst>
              <a:path w="6760615" h="2797205">
                <a:moveTo>
                  <a:pt x="0" y="2797205"/>
                </a:moveTo>
                <a:lnTo>
                  <a:pt x="6760616" y="2797205"/>
                </a:lnTo>
                <a:lnTo>
                  <a:pt x="6760616" y="0"/>
                </a:lnTo>
                <a:lnTo>
                  <a:pt x="0" y="0"/>
                </a:lnTo>
                <a:lnTo>
                  <a:pt x="0" y="2797205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038600" y="860843"/>
            <a:ext cx="9549761" cy="1905718"/>
            <a:chOff x="0" y="-47625"/>
            <a:chExt cx="2236814" cy="464236"/>
          </a:xfrm>
        </p:grpSpPr>
        <p:sp>
          <p:nvSpPr>
            <p:cNvPr id="4" name="Freeform 4"/>
            <p:cNvSpPr/>
            <p:nvPr/>
          </p:nvSpPr>
          <p:spPr>
            <a:xfrm>
              <a:off x="147753" y="12748"/>
              <a:ext cx="2089061" cy="403863"/>
            </a:xfrm>
            <a:custGeom>
              <a:avLst/>
              <a:gdLst/>
              <a:ahLst/>
              <a:cxnLst/>
              <a:rect l="l" t="t" r="r" b="b"/>
              <a:pathLst>
                <a:path w="2089061" h="403863">
                  <a:moveTo>
                    <a:pt x="0" y="0"/>
                  </a:moveTo>
                  <a:lnTo>
                    <a:pt x="2089061" y="0"/>
                  </a:lnTo>
                  <a:lnTo>
                    <a:pt x="2089061" y="403863"/>
                  </a:lnTo>
                  <a:lnTo>
                    <a:pt x="0" y="403863"/>
                  </a:lnTo>
                  <a:close/>
                </a:path>
              </a:pathLst>
            </a:custGeom>
            <a:solidFill>
              <a:srgbClr val="A9CBEC">
                <a:alpha val="31765"/>
              </a:srgbClr>
            </a:solidFill>
            <a:ln w="38100" cap="sq">
              <a:solidFill>
                <a:srgbClr val="396FBE">
                  <a:alpha val="31765"/>
                </a:srgbClr>
              </a:solidFill>
              <a:prstDash val="dash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089061" cy="451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429374" y="1158471"/>
            <a:ext cx="9399021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dirty="0">
                <a:solidFill>
                  <a:srgbClr val="396FBE"/>
                </a:solidFill>
                <a:latin typeface="Arbutus Slab" panose="02000000000000000000"/>
                <a:ea typeface="Arbutus Slab" panose="02000000000000000000"/>
                <a:cs typeface="Arbutus Slab" panose="02000000000000000000"/>
                <a:sym typeface="Arbutus Slab" panose="02000000000000000000"/>
              </a:rPr>
              <a:t>Introduction</a:t>
            </a:r>
            <a:endParaRPr lang="en-US" sz="7500" dirty="0">
              <a:solidFill>
                <a:srgbClr val="396FBE"/>
              </a:solidFill>
              <a:latin typeface="Arbutus Slab" panose="02000000000000000000"/>
              <a:ea typeface="Arbutus Slab" panose="02000000000000000000"/>
              <a:cs typeface="Arbutus Slab" panose="02000000000000000000"/>
              <a:sym typeface="Arbutus Slab" panose="02000000000000000000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2113534" y="1651271"/>
            <a:ext cx="618178" cy="618178"/>
          </a:xfrm>
          <a:custGeom>
            <a:avLst/>
            <a:gdLst/>
            <a:ahLst/>
            <a:cxnLst/>
            <a:rect l="l" t="t" r="r" b="b"/>
            <a:pathLst>
              <a:path w="618178" h="618178">
                <a:moveTo>
                  <a:pt x="0" y="0"/>
                </a:moveTo>
                <a:lnTo>
                  <a:pt x="618178" y="0"/>
                </a:lnTo>
                <a:lnTo>
                  <a:pt x="618178" y="618179"/>
                </a:lnTo>
                <a:lnTo>
                  <a:pt x="0" y="6181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 flipH="1">
            <a:off x="985838" y="1672126"/>
            <a:ext cx="0" cy="4531593"/>
          </a:xfrm>
          <a:prstGeom prst="line">
            <a:avLst/>
          </a:prstGeom>
          <a:ln w="28575" cap="flat">
            <a:solidFill>
              <a:srgbClr val="A9CBEC"/>
            </a:solidFill>
            <a:prstDash val="sysDot"/>
            <a:headEnd type="diamond" w="lg" len="lg"/>
            <a:tailEnd type="diamond" w="lg" len="lg"/>
          </a:ln>
        </p:spPr>
      </p:sp>
      <p:sp>
        <p:nvSpPr>
          <p:cNvPr id="9" name="AutoShape 9"/>
          <p:cNvSpPr/>
          <p:nvPr/>
        </p:nvSpPr>
        <p:spPr>
          <a:xfrm>
            <a:off x="17302162" y="4292346"/>
            <a:ext cx="0" cy="4531593"/>
          </a:xfrm>
          <a:prstGeom prst="line">
            <a:avLst/>
          </a:prstGeom>
          <a:ln w="28575" cap="flat">
            <a:solidFill>
              <a:srgbClr val="A9CBEC"/>
            </a:solidFill>
            <a:prstDash val="sysDot"/>
            <a:headEnd type="diamond" w="lg" len="lg"/>
            <a:tailEnd type="diamond" w="lg" len="lg"/>
          </a:ln>
        </p:spPr>
      </p:sp>
      <p:sp>
        <p:nvSpPr>
          <p:cNvPr id="11" name="TextBox 11"/>
          <p:cNvSpPr txBox="1"/>
          <p:nvPr/>
        </p:nvSpPr>
        <p:spPr>
          <a:xfrm>
            <a:off x="1481427" y="3447895"/>
            <a:ext cx="15777873" cy="647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95045" lvl="1" indent="-497840" algn="l">
              <a:lnSpc>
                <a:spcPts val="6450"/>
              </a:lnSpc>
              <a:buFont typeface="Arial" panose="020B0604020202020204"/>
              <a:buChar char="•"/>
            </a:pPr>
            <a:r>
              <a:rPr lang="en-US" sz="4610" dirty="0">
                <a:solidFill>
                  <a:srgbClr val="396FBE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CO₂ levels are increasing rapidly and impact climate change</a:t>
            </a:r>
            <a:endParaRPr lang="en-US" sz="4610" dirty="0">
              <a:solidFill>
                <a:srgbClr val="396FBE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  <a:p>
            <a:pPr marL="995045" lvl="1" indent="-497840" algn="l">
              <a:lnSpc>
                <a:spcPts val="6450"/>
              </a:lnSpc>
              <a:buFont typeface="Arial" panose="020B0604020202020204"/>
              <a:buChar char="•"/>
            </a:pPr>
            <a:r>
              <a:rPr lang="en-US" sz="4610" dirty="0">
                <a:solidFill>
                  <a:srgbClr val="396FBE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Monitoring CO₂ in real environments is difficult and costly</a:t>
            </a:r>
            <a:endParaRPr lang="en-US" sz="4610" dirty="0">
              <a:solidFill>
                <a:srgbClr val="396FBE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  <a:p>
            <a:pPr marL="995045" lvl="1" indent="-497840" algn="l">
              <a:lnSpc>
                <a:spcPts val="6450"/>
              </a:lnSpc>
              <a:buFont typeface="Arial" panose="020B0604020202020204"/>
              <a:buChar char="•"/>
            </a:pPr>
            <a:r>
              <a:rPr lang="en-US" sz="4610" dirty="0">
                <a:solidFill>
                  <a:srgbClr val="396FBE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Carbon capture technologies like MOFs are emerging but not well understood</a:t>
            </a:r>
            <a:endParaRPr lang="en-US" sz="4610" dirty="0">
              <a:solidFill>
                <a:srgbClr val="396FBE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  <a:p>
            <a:pPr marL="995045" lvl="1" indent="-497840" algn="l">
              <a:lnSpc>
                <a:spcPts val="6450"/>
              </a:lnSpc>
              <a:buFont typeface="Arial" panose="020B0604020202020204"/>
              <a:buChar char="•"/>
            </a:pPr>
            <a:r>
              <a:rPr lang="en-US" sz="4610" dirty="0">
                <a:solidFill>
                  <a:srgbClr val="396FBE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This project introduces a software-based system to visualize CO₂ monitoring and capture behavior</a:t>
            </a:r>
            <a:endParaRPr lang="en-US" sz="4610" dirty="0">
              <a:solidFill>
                <a:srgbClr val="396FBE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  <a:p>
            <a:pPr marL="995045" lvl="1" indent="-497840" algn="l">
              <a:lnSpc>
                <a:spcPts val="6450"/>
              </a:lnSpc>
              <a:buFont typeface="Arial" panose="020B0604020202020204"/>
              <a:buChar char="•"/>
            </a:pPr>
            <a:r>
              <a:rPr lang="en-US" sz="4610" dirty="0">
                <a:solidFill>
                  <a:srgbClr val="396FBE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Focuses on awareness, education, and planning before real deployment</a:t>
            </a:r>
            <a:endParaRPr lang="en-US" sz="4610" dirty="0">
              <a:solidFill>
                <a:srgbClr val="396FBE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3503067" y="-273080"/>
            <a:ext cx="6760615" cy="2797205"/>
          </a:xfrm>
          <a:custGeom>
            <a:avLst/>
            <a:gdLst/>
            <a:ahLst/>
            <a:cxnLst/>
            <a:rect l="l" t="t" r="r" b="b"/>
            <a:pathLst>
              <a:path w="6760615" h="2797205">
                <a:moveTo>
                  <a:pt x="0" y="2797205"/>
                </a:moveTo>
                <a:lnTo>
                  <a:pt x="6760616" y="2797205"/>
                </a:lnTo>
                <a:lnTo>
                  <a:pt x="6760616" y="0"/>
                </a:lnTo>
                <a:lnTo>
                  <a:pt x="0" y="0"/>
                </a:lnTo>
                <a:lnTo>
                  <a:pt x="0" y="2797205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215202" y="358814"/>
            <a:ext cx="9857597" cy="1533418"/>
            <a:chOff x="0" y="0"/>
            <a:chExt cx="2596240" cy="40386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96240" cy="403863"/>
            </a:xfrm>
            <a:custGeom>
              <a:avLst/>
              <a:gdLst/>
              <a:ahLst/>
              <a:cxnLst/>
              <a:rect l="l" t="t" r="r" b="b"/>
              <a:pathLst>
                <a:path w="2596240" h="403863">
                  <a:moveTo>
                    <a:pt x="0" y="0"/>
                  </a:moveTo>
                  <a:lnTo>
                    <a:pt x="2596240" y="0"/>
                  </a:lnTo>
                  <a:lnTo>
                    <a:pt x="2596240" y="403863"/>
                  </a:lnTo>
                  <a:lnTo>
                    <a:pt x="0" y="403863"/>
                  </a:lnTo>
                  <a:close/>
                </a:path>
              </a:pathLst>
            </a:custGeom>
            <a:solidFill>
              <a:srgbClr val="A9CBEC"/>
            </a:solidFill>
            <a:ln w="38100" cap="sq">
              <a:solidFill>
                <a:srgbClr val="396FBE"/>
              </a:solidFill>
              <a:prstDash val="dash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2596240" cy="5086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560"/>
                </a:lnSpc>
                <a:spcBef>
                  <a:spcPct val="0"/>
                </a:spcBef>
              </a:pPr>
              <a:r>
                <a:rPr lang="en-US" sz="5400">
                  <a:solidFill>
                    <a:srgbClr val="244B85"/>
                  </a:solidFill>
                  <a:latin typeface="Arbutus Slab" panose="02000000000000000000"/>
                  <a:ea typeface="Arbutus Slab" panose="02000000000000000000"/>
                  <a:cs typeface="Arbutus Slab" panose="02000000000000000000"/>
                  <a:sym typeface="Arbutus Slab" panose="02000000000000000000"/>
                </a:rPr>
                <a:t>PROBLEM STATEMENT</a:t>
              </a:r>
              <a:endParaRPr lang="en-US" sz="5400">
                <a:solidFill>
                  <a:srgbClr val="244B85"/>
                </a:solidFill>
                <a:latin typeface="Arbutus Slab" panose="02000000000000000000"/>
                <a:ea typeface="Arbutus Slab" panose="02000000000000000000"/>
                <a:cs typeface="Arbutus Slab" panose="02000000000000000000"/>
                <a:sym typeface="Arbutus Slab" panose="02000000000000000000"/>
              </a:endParaRPr>
            </a:p>
          </p:txBody>
        </p:sp>
      </p:grpSp>
      <p:sp>
        <p:nvSpPr>
          <p:cNvPr id="6" name="AutoShape 6"/>
          <p:cNvSpPr/>
          <p:nvPr/>
        </p:nvSpPr>
        <p:spPr>
          <a:xfrm flipH="1">
            <a:off x="985838" y="1672126"/>
            <a:ext cx="0" cy="4531593"/>
          </a:xfrm>
          <a:prstGeom prst="line">
            <a:avLst/>
          </a:prstGeom>
          <a:ln w="28575" cap="flat">
            <a:solidFill>
              <a:srgbClr val="A9CBEC"/>
            </a:solidFill>
            <a:prstDash val="sysDot"/>
            <a:headEnd type="diamond" w="lg" len="lg"/>
            <a:tailEnd type="diamond" w="lg" len="lg"/>
          </a:ln>
        </p:spPr>
      </p:sp>
      <p:sp>
        <p:nvSpPr>
          <p:cNvPr id="7" name="AutoShape 7"/>
          <p:cNvSpPr/>
          <p:nvPr/>
        </p:nvSpPr>
        <p:spPr>
          <a:xfrm>
            <a:off x="17302162" y="4292346"/>
            <a:ext cx="0" cy="4531593"/>
          </a:xfrm>
          <a:prstGeom prst="line">
            <a:avLst/>
          </a:prstGeom>
          <a:ln w="28575" cap="flat">
            <a:solidFill>
              <a:srgbClr val="A9CBEC"/>
            </a:solidFill>
            <a:prstDash val="sysDot"/>
            <a:headEnd type="diamond" w="lg" len="lg"/>
            <a:tailEnd type="diamond" w="lg" len="lg"/>
          </a:ln>
        </p:spPr>
      </p:sp>
      <p:sp>
        <p:nvSpPr>
          <p:cNvPr id="8" name="TextBox 8"/>
          <p:cNvSpPr txBox="1"/>
          <p:nvPr/>
        </p:nvSpPr>
        <p:spPr>
          <a:xfrm>
            <a:off x="1615298" y="2776785"/>
            <a:ext cx="15876373" cy="6071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35355" lvl="1" indent="-467995" algn="l">
              <a:lnSpc>
                <a:spcPts val="6065"/>
              </a:lnSpc>
              <a:buFont typeface="Arial" panose="020B0604020202020204"/>
              <a:buChar char="•"/>
            </a:pPr>
            <a:r>
              <a:rPr lang="en-US" sz="4330">
                <a:solidFill>
                  <a:srgbClr val="396FBE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CO₂ concentration values (ppm) are not easily understood by the public</a:t>
            </a:r>
            <a:endParaRPr lang="en-US" sz="4330">
              <a:solidFill>
                <a:srgbClr val="396FBE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  <a:p>
            <a:pPr marL="935355" lvl="1" indent="-467995" algn="l">
              <a:lnSpc>
                <a:spcPts val="6065"/>
              </a:lnSpc>
              <a:buFont typeface="Arial" panose="020B0604020202020204"/>
              <a:buChar char="•"/>
            </a:pPr>
            <a:r>
              <a:rPr lang="en-US" sz="4330">
                <a:solidFill>
                  <a:srgbClr val="396FBE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Real-time CO₂ monitoring infrastructure is expensive</a:t>
            </a:r>
            <a:endParaRPr lang="en-US" sz="4330">
              <a:solidFill>
                <a:srgbClr val="396FBE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  <a:p>
            <a:pPr marL="935355" lvl="1" indent="-467995" algn="l">
              <a:lnSpc>
                <a:spcPts val="6065"/>
              </a:lnSpc>
              <a:buFont typeface="Arial" panose="020B0604020202020204"/>
              <a:buChar char="•"/>
            </a:pPr>
            <a:r>
              <a:rPr lang="en-US" sz="4330">
                <a:solidFill>
                  <a:srgbClr val="396FBE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Working of MOF-based carbon capture systems is not clearly visualized</a:t>
            </a:r>
            <a:endParaRPr lang="en-US" sz="4330">
              <a:solidFill>
                <a:srgbClr val="396FBE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  <a:p>
            <a:pPr marL="935355" lvl="1" indent="-467995" algn="l">
              <a:lnSpc>
                <a:spcPts val="6065"/>
              </a:lnSpc>
              <a:buFont typeface="Arial" panose="020B0604020202020204"/>
              <a:buChar char="•"/>
            </a:pPr>
            <a:r>
              <a:rPr lang="en-US" sz="4330">
                <a:solidFill>
                  <a:srgbClr val="396FBE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Policymakers lack simple tools to analyze impact before large-scale deployment</a:t>
            </a:r>
            <a:endParaRPr lang="en-US" sz="4330">
              <a:solidFill>
                <a:srgbClr val="396FBE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  <a:p>
            <a:pPr marL="935355" lvl="1" indent="-467995" algn="l">
              <a:lnSpc>
                <a:spcPts val="6065"/>
              </a:lnSpc>
              <a:buFont typeface="Arial" panose="020B0604020202020204"/>
              <a:buChar char="•"/>
            </a:pPr>
            <a:r>
              <a:rPr lang="en-US" sz="4330">
                <a:solidFill>
                  <a:srgbClr val="396FBE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Need for a transparent and explainable monitoring system</a:t>
            </a:r>
            <a:endParaRPr lang="en-US" sz="4330">
              <a:solidFill>
                <a:srgbClr val="396FBE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1527385" y="-22860"/>
            <a:ext cx="6760615" cy="2797205"/>
          </a:xfrm>
          <a:custGeom>
            <a:avLst/>
            <a:gdLst/>
            <a:ahLst/>
            <a:cxnLst/>
            <a:rect l="l" t="t" r="r" b="b"/>
            <a:pathLst>
              <a:path w="6760615" h="2797205">
                <a:moveTo>
                  <a:pt x="0" y="2797205"/>
                </a:moveTo>
                <a:lnTo>
                  <a:pt x="6760616" y="2797205"/>
                </a:lnTo>
                <a:lnTo>
                  <a:pt x="6760616" y="0"/>
                </a:lnTo>
                <a:lnTo>
                  <a:pt x="0" y="0"/>
                </a:lnTo>
                <a:lnTo>
                  <a:pt x="0" y="2797205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178048" y="1158471"/>
            <a:ext cx="7931903" cy="1533418"/>
            <a:chOff x="0" y="0"/>
            <a:chExt cx="2089061" cy="40386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89061" cy="403863"/>
            </a:xfrm>
            <a:custGeom>
              <a:avLst/>
              <a:gdLst/>
              <a:ahLst/>
              <a:cxnLst/>
              <a:rect l="l" t="t" r="r" b="b"/>
              <a:pathLst>
                <a:path w="2089061" h="403863">
                  <a:moveTo>
                    <a:pt x="0" y="0"/>
                  </a:moveTo>
                  <a:lnTo>
                    <a:pt x="2089061" y="0"/>
                  </a:lnTo>
                  <a:lnTo>
                    <a:pt x="2089061" y="403863"/>
                  </a:lnTo>
                  <a:lnTo>
                    <a:pt x="0" y="403863"/>
                  </a:lnTo>
                  <a:close/>
                </a:path>
              </a:pathLst>
            </a:custGeom>
            <a:solidFill>
              <a:srgbClr val="A9CBEC">
                <a:alpha val="31765"/>
              </a:srgbClr>
            </a:solidFill>
            <a:ln w="38100" cap="sq">
              <a:solidFill>
                <a:srgbClr val="396FBE">
                  <a:alpha val="31765"/>
                </a:srgbClr>
              </a:solidFill>
              <a:prstDash val="dash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089061" cy="451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429374" y="1158471"/>
            <a:ext cx="9399021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396FBE"/>
                </a:solidFill>
                <a:latin typeface="Arbutus Slab" panose="02000000000000000000"/>
                <a:ea typeface="Arbutus Slab" panose="02000000000000000000"/>
                <a:cs typeface="Arbutus Slab" panose="02000000000000000000"/>
                <a:sym typeface="Arbutus Slab" panose="02000000000000000000"/>
              </a:rPr>
              <a:t>Objectives</a:t>
            </a:r>
            <a:endParaRPr lang="en-US" sz="7500">
              <a:solidFill>
                <a:srgbClr val="396FBE"/>
              </a:solidFill>
              <a:latin typeface="Arbutus Slab" panose="02000000000000000000"/>
              <a:ea typeface="Arbutus Slab" panose="02000000000000000000"/>
              <a:cs typeface="Arbutus Slab" panose="02000000000000000000"/>
              <a:sym typeface="Arbutus Slab" panose="02000000000000000000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2113534" y="1651271"/>
            <a:ext cx="618178" cy="618178"/>
          </a:xfrm>
          <a:custGeom>
            <a:avLst/>
            <a:gdLst/>
            <a:ahLst/>
            <a:cxnLst/>
            <a:rect l="l" t="t" r="r" b="b"/>
            <a:pathLst>
              <a:path w="618178" h="618178">
                <a:moveTo>
                  <a:pt x="0" y="0"/>
                </a:moveTo>
                <a:lnTo>
                  <a:pt x="618178" y="0"/>
                </a:lnTo>
                <a:lnTo>
                  <a:pt x="618178" y="618179"/>
                </a:lnTo>
                <a:lnTo>
                  <a:pt x="0" y="6181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 flipH="1">
            <a:off x="985838" y="1672126"/>
            <a:ext cx="0" cy="4531593"/>
          </a:xfrm>
          <a:prstGeom prst="line">
            <a:avLst/>
          </a:prstGeom>
          <a:ln w="28575" cap="flat">
            <a:solidFill>
              <a:srgbClr val="A9CBEC"/>
            </a:solidFill>
            <a:prstDash val="sysDot"/>
            <a:headEnd type="diamond" w="lg" len="lg"/>
            <a:tailEnd type="diamond" w="lg" len="lg"/>
          </a:ln>
        </p:spPr>
      </p:sp>
      <p:sp>
        <p:nvSpPr>
          <p:cNvPr id="9" name="AutoShape 9"/>
          <p:cNvSpPr/>
          <p:nvPr/>
        </p:nvSpPr>
        <p:spPr>
          <a:xfrm>
            <a:off x="17302162" y="4292346"/>
            <a:ext cx="0" cy="4531593"/>
          </a:xfrm>
          <a:prstGeom prst="line">
            <a:avLst/>
          </a:prstGeom>
          <a:ln w="28575" cap="flat">
            <a:solidFill>
              <a:srgbClr val="A9CBEC"/>
            </a:solidFill>
            <a:prstDash val="sysDot"/>
            <a:headEnd type="diamond" w="lg" len="lg"/>
            <a:tailEnd type="diamond" w="lg" len="lg"/>
          </a:ln>
        </p:spPr>
      </p:sp>
      <p:sp>
        <p:nvSpPr>
          <p:cNvPr id="10" name="Freeform 10"/>
          <p:cNvSpPr/>
          <p:nvPr/>
        </p:nvSpPr>
        <p:spPr>
          <a:xfrm>
            <a:off x="5530690" y="1651271"/>
            <a:ext cx="618178" cy="618178"/>
          </a:xfrm>
          <a:custGeom>
            <a:avLst/>
            <a:gdLst/>
            <a:ahLst/>
            <a:cxnLst/>
            <a:rect l="l" t="t" r="r" b="b"/>
            <a:pathLst>
              <a:path w="618178" h="618178">
                <a:moveTo>
                  <a:pt x="0" y="0"/>
                </a:moveTo>
                <a:lnTo>
                  <a:pt x="618178" y="0"/>
                </a:lnTo>
                <a:lnTo>
                  <a:pt x="618178" y="618179"/>
                </a:lnTo>
                <a:lnTo>
                  <a:pt x="0" y="6181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302042" y="3001505"/>
            <a:ext cx="16985958" cy="5171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56640" lvl="1" indent="-528320" algn="l">
              <a:lnSpc>
                <a:spcPts val="6850"/>
              </a:lnSpc>
              <a:buFont typeface="Arial" panose="020B0604020202020204"/>
              <a:buChar char="•"/>
            </a:pPr>
            <a:r>
              <a:rPr lang="en-US" sz="4890">
                <a:solidFill>
                  <a:srgbClr val="396FBE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To simulate CO₂ monitoring across different environments</a:t>
            </a:r>
            <a:endParaRPr lang="en-US" sz="4890">
              <a:solidFill>
                <a:srgbClr val="396FBE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  <a:p>
            <a:pPr marL="1056640" lvl="1" indent="-528320" algn="l">
              <a:lnSpc>
                <a:spcPts val="6850"/>
              </a:lnSpc>
              <a:buFont typeface="Arial" panose="020B0604020202020204"/>
              <a:buChar char="•"/>
            </a:pPr>
            <a:r>
              <a:rPr lang="en-US" sz="4890">
                <a:solidFill>
                  <a:srgbClr val="396FBE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To visualize how MOF-based capture reduces CO₂ levels</a:t>
            </a:r>
            <a:endParaRPr lang="en-US" sz="4890">
              <a:solidFill>
                <a:srgbClr val="396FBE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  <a:p>
            <a:pPr marL="1056640" lvl="1" indent="-528320" algn="l">
              <a:lnSpc>
                <a:spcPts val="6850"/>
              </a:lnSpc>
              <a:buFont typeface="Arial" panose="020B0604020202020204"/>
              <a:buChar char="•"/>
            </a:pPr>
            <a:r>
              <a:rPr lang="en-US" sz="4890">
                <a:solidFill>
                  <a:srgbClr val="396FBE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To demonstrate sensor-like behavior without physical hardware</a:t>
            </a:r>
            <a:endParaRPr lang="en-US" sz="4890">
              <a:solidFill>
                <a:srgbClr val="396FBE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  <a:p>
            <a:pPr marL="1056640" lvl="1" indent="-528320" algn="l">
              <a:lnSpc>
                <a:spcPts val="6850"/>
              </a:lnSpc>
              <a:buFont typeface="Arial" panose="020B0604020202020204"/>
              <a:buChar char="•"/>
            </a:pPr>
            <a:r>
              <a:rPr lang="en-US" sz="4890">
                <a:solidFill>
                  <a:srgbClr val="396FBE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To provide clear before-and-after CO₂ comparison</a:t>
            </a:r>
            <a:endParaRPr lang="en-US" sz="4890">
              <a:solidFill>
                <a:srgbClr val="396FBE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  <a:p>
            <a:pPr marL="1056640" lvl="1" indent="-528320" algn="l">
              <a:lnSpc>
                <a:spcPts val="6850"/>
              </a:lnSpc>
              <a:buFont typeface="Arial" panose="020B0604020202020204"/>
              <a:buChar char="•"/>
            </a:pPr>
            <a:r>
              <a:rPr lang="en-US" sz="4890">
                <a:solidFill>
                  <a:srgbClr val="396FBE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To design a system that is scalable and future-ready</a:t>
            </a:r>
            <a:endParaRPr lang="en-US" sz="4890">
              <a:solidFill>
                <a:srgbClr val="396FBE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1512145" y="0"/>
            <a:ext cx="6760615" cy="2797205"/>
          </a:xfrm>
          <a:custGeom>
            <a:avLst/>
            <a:gdLst/>
            <a:ahLst/>
            <a:cxnLst/>
            <a:rect l="l" t="t" r="r" b="b"/>
            <a:pathLst>
              <a:path w="6760615" h="2797205">
                <a:moveTo>
                  <a:pt x="0" y="2797205"/>
                </a:moveTo>
                <a:lnTo>
                  <a:pt x="6760616" y="2797205"/>
                </a:lnTo>
                <a:lnTo>
                  <a:pt x="6760616" y="0"/>
                </a:lnTo>
                <a:lnTo>
                  <a:pt x="0" y="0"/>
                </a:lnTo>
                <a:lnTo>
                  <a:pt x="0" y="2797205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200400" y="44983"/>
            <a:ext cx="7931903" cy="1162199"/>
            <a:chOff x="0" y="0"/>
            <a:chExt cx="2089061" cy="30609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89061" cy="306094"/>
            </a:xfrm>
            <a:custGeom>
              <a:avLst/>
              <a:gdLst/>
              <a:ahLst/>
              <a:cxnLst/>
              <a:rect l="l" t="t" r="r" b="b"/>
              <a:pathLst>
                <a:path w="2089061" h="306094">
                  <a:moveTo>
                    <a:pt x="0" y="0"/>
                  </a:moveTo>
                  <a:lnTo>
                    <a:pt x="2089061" y="0"/>
                  </a:lnTo>
                  <a:lnTo>
                    <a:pt x="2089061" y="306094"/>
                  </a:lnTo>
                  <a:lnTo>
                    <a:pt x="0" y="306094"/>
                  </a:lnTo>
                  <a:close/>
                </a:path>
              </a:pathLst>
            </a:custGeom>
            <a:solidFill>
              <a:srgbClr val="A9CBEC"/>
            </a:solidFill>
            <a:ln w="38100" cap="sq">
              <a:solidFill>
                <a:srgbClr val="396FBE"/>
              </a:solidFill>
              <a:prstDash val="dash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2089061" cy="372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180"/>
                </a:lnSpc>
                <a:spcBef>
                  <a:spcPct val="0"/>
                </a:spcBef>
              </a:pPr>
              <a:r>
                <a:rPr lang="en-US" sz="3700">
                  <a:solidFill>
                    <a:srgbClr val="244B85"/>
                  </a:solidFill>
                  <a:latin typeface="Arbutus Slab" panose="02000000000000000000"/>
                  <a:ea typeface="Arbutus Slab" panose="02000000000000000000"/>
                  <a:cs typeface="Arbutus Slab" panose="02000000000000000000"/>
                  <a:sym typeface="Arbutus Slab" panose="02000000000000000000"/>
                </a:rPr>
                <a:t>LOCATION BASED MONITORING</a:t>
              </a:r>
              <a:endParaRPr lang="en-US" sz="3700">
                <a:solidFill>
                  <a:srgbClr val="244B85"/>
                </a:solidFill>
                <a:latin typeface="Arbutus Slab" panose="02000000000000000000"/>
                <a:ea typeface="Arbutus Slab" panose="02000000000000000000"/>
                <a:cs typeface="Arbutus Slab" panose="02000000000000000000"/>
                <a:sym typeface="Arbutus Slab" panose="02000000000000000000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8274342" y="3918601"/>
            <a:ext cx="10013658" cy="6368399"/>
          </a:xfrm>
          <a:custGeom>
            <a:avLst/>
            <a:gdLst/>
            <a:ahLst/>
            <a:cxnLst/>
            <a:rect l="l" t="t" r="r" b="b"/>
            <a:pathLst>
              <a:path w="10013658" h="6368399">
                <a:moveTo>
                  <a:pt x="0" y="0"/>
                </a:moveTo>
                <a:lnTo>
                  <a:pt x="10013658" y="0"/>
                </a:lnTo>
                <a:lnTo>
                  <a:pt x="10013658" y="6368399"/>
                </a:lnTo>
                <a:lnTo>
                  <a:pt x="0" y="63683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999" b="-6999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-271800" y="1292834"/>
            <a:ext cx="11483633" cy="8368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27735" lvl="1" indent="-464185" algn="just">
              <a:lnSpc>
                <a:spcPts val="6015"/>
              </a:lnSpc>
              <a:buFont typeface="Arial" panose="020B0604020202020204"/>
              <a:buChar char="•"/>
            </a:pPr>
            <a:r>
              <a:rPr lang="en-US" sz="4295">
                <a:solidFill>
                  <a:srgbClr val="244B85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CO₂ monitoring is performed based on geographic location</a:t>
            </a:r>
            <a:endParaRPr lang="en-US" sz="4295">
              <a:solidFill>
                <a:srgbClr val="244B85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  <a:p>
            <a:pPr marL="927735" lvl="1" indent="-464185" algn="just">
              <a:lnSpc>
                <a:spcPts val="6015"/>
              </a:lnSpc>
              <a:buFont typeface="Arial" panose="020B0604020202020204"/>
              <a:buChar char="•"/>
            </a:pPr>
            <a:r>
              <a:rPr lang="en-US" sz="4295">
                <a:solidFill>
                  <a:srgbClr val="244B85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City-level monitoring is simulated (Hyderabad)</a:t>
            </a:r>
            <a:endParaRPr lang="en-US" sz="4295">
              <a:solidFill>
                <a:srgbClr val="244B85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  <a:p>
            <a:pPr marL="927735" lvl="1" indent="-464185" algn="just">
              <a:lnSpc>
                <a:spcPts val="6015"/>
              </a:lnSpc>
              <a:buFont typeface="Arial" panose="020B0604020202020204"/>
              <a:buChar char="•"/>
            </a:pPr>
            <a:r>
              <a:rPr lang="en-US" sz="4295">
                <a:solidFill>
                  <a:srgbClr val="244B85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Sensor coverage is visualized</a:t>
            </a:r>
            <a:endParaRPr lang="en-US" sz="4295">
              <a:solidFill>
                <a:srgbClr val="244B85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  <a:p>
            <a:pPr algn="just">
              <a:lnSpc>
                <a:spcPts val="6015"/>
              </a:lnSpc>
            </a:pPr>
            <a:r>
              <a:rPr lang="en-US" sz="4295">
                <a:solidFill>
                  <a:srgbClr val="244B85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    using a map interface</a:t>
            </a:r>
            <a:endParaRPr lang="en-US" sz="4295">
              <a:solidFill>
                <a:srgbClr val="244B85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  <a:p>
            <a:pPr marL="927735" lvl="1" indent="-464185" algn="just">
              <a:lnSpc>
                <a:spcPts val="6015"/>
              </a:lnSpc>
              <a:buFont typeface="Arial" panose="020B0604020202020204"/>
              <a:buChar char="•"/>
            </a:pPr>
            <a:r>
              <a:rPr lang="en-US" sz="4295">
                <a:solidFill>
                  <a:srgbClr val="244B85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Represents how sensors can be </a:t>
            </a:r>
            <a:endParaRPr lang="en-US" sz="4295">
              <a:solidFill>
                <a:srgbClr val="244B85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  <a:p>
            <a:pPr algn="just">
              <a:lnSpc>
                <a:spcPts val="6015"/>
              </a:lnSpc>
            </a:pPr>
            <a:r>
              <a:rPr lang="en-US" sz="4295">
                <a:solidFill>
                  <a:srgbClr val="244B85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   deployed across different areas</a:t>
            </a:r>
            <a:endParaRPr lang="en-US" sz="4295">
              <a:solidFill>
                <a:srgbClr val="244B85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  <a:p>
            <a:pPr marL="927735" lvl="1" indent="-464185" algn="just">
              <a:lnSpc>
                <a:spcPts val="6015"/>
              </a:lnSpc>
              <a:buFont typeface="Arial" panose="020B0604020202020204"/>
              <a:buChar char="•"/>
            </a:pPr>
            <a:r>
              <a:rPr lang="en-US" sz="4295">
                <a:solidFill>
                  <a:srgbClr val="244B85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Helps understand spatial variation </a:t>
            </a:r>
            <a:endParaRPr lang="en-US" sz="4295">
              <a:solidFill>
                <a:srgbClr val="244B85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  <a:p>
            <a:pPr algn="just">
              <a:lnSpc>
                <a:spcPts val="6015"/>
              </a:lnSpc>
            </a:pPr>
            <a:r>
              <a:rPr lang="en-US" sz="4295">
                <a:solidFill>
                  <a:srgbClr val="244B85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   of CO₂ levels</a:t>
            </a:r>
            <a:endParaRPr lang="en-US" sz="4295">
              <a:solidFill>
                <a:srgbClr val="244B85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  <a:p>
            <a:pPr marL="927735" lvl="1" indent="-464185" algn="just">
              <a:lnSpc>
                <a:spcPts val="6015"/>
              </a:lnSpc>
              <a:buFont typeface="Arial" panose="020B0604020202020204"/>
              <a:buChar char="•"/>
            </a:pPr>
            <a:r>
              <a:rPr lang="en-US" sz="4295">
                <a:solidFill>
                  <a:srgbClr val="244B85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Supports planning for large-scale,</a:t>
            </a:r>
            <a:endParaRPr lang="en-US" sz="4295">
              <a:solidFill>
                <a:srgbClr val="244B85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  <a:p>
            <a:pPr marL="927735" lvl="1" indent="-464185" algn="just">
              <a:lnSpc>
                <a:spcPts val="6015"/>
              </a:lnSpc>
              <a:buFont typeface="Arial" panose="020B0604020202020204"/>
              <a:buChar char="•"/>
            </a:pPr>
            <a:r>
              <a:rPr lang="en-US" sz="4295">
                <a:solidFill>
                  <a:srgbClr val="244B85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 real-world deployment</a:t>
            </a:r>
            <a:endParaRPr lang="en-US" sz="4295">
              <a:solidFill>
                <a:srgbClr val="244B85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3503067" y="-273080"/>
            <a:ext cx="6760615" cy="2797205"/>
          </a:xfrm>
          <a:custGeom>
            <a:avLst/>
            <a:gdLst/>
            <a:ahLst/>
            <a:cxnLst/>
            <a:rect l="l" t="t" r="r" b="b"/>
            <a:pathLst>
              <a:path w="6760615" h="2797205">
                <a:moveTo>
                  <a:pt x="0" y="2797205"/>
                </a:moveTo>
                <a:lnTo>
                  <a:pt x="6760616" y="2797205"/>
                </a:lnTo>
                <a:lnTo>
                  <a:pt x="6760616" y="0"/>
                </a:lnTo>
                <a:lnTo>
                  <a:pt x="0" y="0"/>
                </a:lnTo>
                <a:lnTo>
                  <a:pt x="0" y="2797205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690825" y="224495"/>
            <a:ext cx="8140713" cy="1766542"/>
            <a:chOff x="0" y="0"/>
            <a:chExt cx="2144056" cy="4652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44056" cy="465262"/>
            </a:xfrm>
            <a:custGeom>
              <a:avLst/>
              <a:gdLst/>
              <a:ahLst/>
              <a:cxnLst/>
              <a:rect l="l" t="t" r="r" b="b"/>
              <a:pathLst>
                <a:path w="2144056" h="465262">
                  <a:moveTo>
                    <a:pt x="0" y="0"/>
                  </a:moveTo>
                  <a:lnTo>
                    <a:pt x="2144056" y="0"/>
                  </a:lnTo>
                  <a:lnTo>
                    <a:pt x="2144056" y="465262"/>
                  </a:lnTo>
                  <a:lnTo>
                    <a:pt x="0" y="465262"/>
                  </a:lnTo>
                  <a:close/>
                </a:path>
              </a:pathLst>
            </a:custGeom>
            <a:solidFill>
              <a:srgbClr val="A9CBEC">
                <a:alpha val="31765"/>
              </a:srgbClr>
            </a:solidFill>
            <a:ln w="38100" cap="sq">
              <a:solidFill>
                <a:srgbClr val="396FBE">
                  <a:alpha val="31765"/>
                </a:srgbClr>
              </a:solidFill>
              <a:prstDash val="dash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144056" cy="5128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463772" y="2373323"/>
            <a:ext cx="7494361" cy="6884977"/>
          </a:xfrm>
          <a:custGeom>
            <a:avLst/>
            <a:gdLst/>
            <a:ahLst/>
            <a:cxnLst/>
            <a:rect l="l" t="t" r="r" b="b"/>
            <a:pathLst>
              <a:path w="7494361" h="6884977">
                <a:moveTo>
                  <a:pt x="0" y="0"/>
                </a:moveTo>
                <a:lnTo>
                  <a:pt x="7494362" y="0"/>
                </a:lnTo>
                <a:lnTo>
                  <a:pt x="7494362" y="6884977"/>
                </a:lnTo>
                <a:lnTo>
                  <a:pt x="0" y="6884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969276" y="314325"/>
            <a:ext cx="9399021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396FBE"/>
                </a:solidFill>
                <a:latin typeface="Arbutus Slab" panose="02000000000000000000"/>
                <a:ea typeface="Arbutus Slab" panose="02000000000000000000"/>
                <a:cs typeface="Arbutus Slab" panose="02000000000000000000"/>
                <a:sym typeface="Arbutus Slab" panose="02000000000000000000"/>
              </a:rPr>
              <a:t>Methodolgy</a:t>
            </a:r>
            <a:endParaRPr lang="en-US" sz="7500">
              <a:solidFill>
                <a:srgbClr val="396FBE"/>
              </a:solidFill>
              <a:latin typeface="Arbutus Slab" panose="02000000000000000000"/>
              <a:ea typeface="Arbutus Slab" panose="02000000000000000000"/>
              <a:cs typeface="Arbutus Slab" panose="02000000000000000000"/>
              <a:sym typeface="Arbutus Slab" panose="020000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789715" y="2428875"/>
            <a:ext cx="10083646" cy="746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13130" lvl="1" indent="-456565" algn="just">
              <a:lnSpc>
                <a:spcPts val="5920"/>
              </a:lnSpc>
              <a:buFont typeface="Arial" panose="020B0604020202020204"/>
              <a:buChar char="•"/>
            </a:pPr>
            <a:r>
              <a:rPr lang="en-US" sz="4230">
                <a:solidFill>
                  <a:srgbClr val="396FBE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Use predefined environment-based CO₂ baseline values</a:t>
            </a:r>
            <a:endParaRPr lang="en-US" sz="4230">
              <a:solidFill>
                <a:srgbClr val="396FBE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  <a:p>
            <a:pPr marL="913130" lvl="1" indent="-456565" algn="just">
              <a:lnSpc>
                <a:spcPts val="5920"/>
              </a:lnSpc>
              <a:buFont typeface="Arial" panose="020B0604020202020204"/>
              <a:buChar char="•"/>
            </a:pPr>
            <a:r>
              <a:rPr lang="en-US" sz="4230">
                <a:solidFill>
                  <a:srgbClr val="396FBE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Simulate live CO₂ sensor behavior with time-based updates</a:t>
            </a:r>
            <a:endParaRPr lang="en-US" sz="4230">
              <a:solidFill>
                <a:srgbClr val="396FBE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  <a:p>
            <a:pPr marL="913130" lvl="1" indent="-456565" algn="just">
              <a:lnSpc>
                <a:spcPts val="5920"/>
              </a:lnSpc>
              <a:buFont typeface="Arial" panose="020B0604020202020204"/>
              <a:buChar char="•"/>
            </a:pPr>
            <a:r>
              <a:rPr lang="en-US" sz="4230">
                <a:solidFill>
                  <a:srgbClr val="396FBE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Apply fixed MOF capture efficiency logic</a:t>
            </a:r>
            <a:endParaRPr lang="en-US" sz="4230">
              <a:solidFill>
                <a:srgbClr val="396FBE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  <a:p>
            <a:pPr marL="913130" lvl="1" indent="-456565" algn="just">
              <a:lnSpc>
                <a:spcPts val="5920"/>
              </a:lnSpc>
              <a:buFont typeface="Arial" panose="020B0604020202020204"/>
              <a:buChar char="•"/>
            </a:pPr>
            <a:r>
              <a:rPr lang="en-US" sz="4230">
                <a:solidFill>
                  <a:srgbClr val="396FBE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Calculate CO₂ levels before and after capture</a:t>
            </a:r>
            <a:endParaRPr lang="en-US" sz="4230">
              <a:solidFill>
                <a:srgbClr val="396FBE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  <a:p>
            <a:pPr marL="913130" lvl="1" indent="-456565" algn="just">
              <a:lnSpc>
                <a:spcPts val="5920"/>
              </a:lnSpc>
              <a:buFont typeface="Arial" panose="020B0604020202020204"/>
              <a:buChar char="•"/>
            </a:pPr>
            <a:r>
              <a:rPr lang="en-US" sz="4230">
                <a:solidFill>
                  <a:srgbClr val="396FBE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Visualize data using charts and indicators</a:t>
            </a:r>
            <a:endParaRPr lang="en-US" sz="4230">
              <a:solidFill>
                <a:srgbClr val="396FBE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  <a:p>
            <a:pPr marL="913130" lvl="1" indent="-456565" algn="just">
              <a:lnSpc>
                <a:spcPts val="5920"/>
              </a:lnSpc>
              <a:buFont typeface="Arial" panose="020B0604020202020204"/>
              <a:buChar char="•"/>
            </a:pPr>
            <a:r>
              <a:rPr lang="en-US" sz="4230">
                <a:solidFill>
                  <a:srgbClr val="396FBE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Estimate near-future CO₂ trends using prediction logic</a:t>
            </a:r>
            <a:endParaRPr lang="en-US" sz="4230">
              <a:solidFill>
                <a:srgbClr val="396FBE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404669" y="345247"/>
            <a:ext cx="9478661" cy="1615113"/>
            <a:chOff x="0" y="0"/>
            <a:chExt cx="2496438" cy="4253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96438" cy="425380"/>
            </a:xfrm>
            <a:custGeom>
              <a:avLst/>
              <a:gdLst/>
              <a:ahLst/>
              <a:cxnLst/>
              <a:rect l="l" t="t" r="r" b="b"/>
              <a:pathLst>
                <a:path w="2496438" h="425380">
                  <a:moveTo>
                    <a:pt x="0" y="0"/>
                  </a:moveTo>
                  <a:lnTo>
                    <a:pt x="2496438" y="0"/>
                  </a:lnTo>
                  <a:lnTo>
                    <a:pt x="2496438" y="425380"/>
                  </a:lnTo>
                  <a:lnTo>
                    <a:pt x="0" y="425380"/>
                  </a:lnTo>
                  <a:close/>
                </a:path>
              </a:pathLst>
            </a:custGeom>
            <a:solidFill>
              <a:srgbClr val="A9CBEC">
                <a:alpha val="31765"/>
              </a:srgbClr>
            </a:solidFill>
            <a:ln w="38100" cap="sq">
              <a:solidFill>
                <a:srgbClr val="396FBE">
                  <a:alpha val="31765"/>
                </a:srgbClr>
              </a:solidFill>
              <a:prstDash val="dash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496438" cy="4730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113572" y="411148"/>
            <a:ext cx="9399021" cy="1252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20"/>
              </a:lnSpc>
            </a:pPr>
            <a:r>
              <a:rPr lang="en-US" sz="7300">
                <a:solidFill>
                  <a:srgbClr val="396FBE"/>
                </a:solidFill>
                <a:latin typeface="Arbutus Slab" panose="02000000000000000000"/>
                <a:ea typeface="Arbutus Slab" panose="02000000000000000000"/>
                <a:cs typeface="Arbutus Slab" panose="02000000000000000000"/>
                <a:sym typeface="Arbutus Slab" panose="02000000000000000000"/>
              </a:rPr>
              <a:t>Implementation</a:t>
            </a:r>
            <a:endParaRPr lang="en-US" sz="7300">
              <a:solidFill>
                <a:srgbClr val="396FBE"/>
              </a:solidFill>
              <a:latin typeface="Arbutus Slab" panose="02000000000000000000"/>
              <a:ea typeface="Arbutus Slab" panose="02000000000000000000"/>
              <a:cs typeface="Arbutus Slab" panose="02000000000000000000"/>
              <a:sym typeface="Arbutus Slab" panose="02000000000000000000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7302162" y="4292346"/>
            <a:ext cx="0" cy="4531593"/>
          </a:xfrm>
          <a:prstGeom prst="line">
            <a:avLst/>
          </a:prstGeom>
          <a:ln w="28575" cap="flat">
            <a:solidFill>
              <a:srgbClr val="A9CBEC"/>
            </a:solidFill>
            <a:prstDash val="sysDot"/>
            <a:headEnd type="diamond" w="lg" len="lg"/>
            <a:tailEnd type="diamond" w="lg" len="lg"/>
          </a:ln>
        </p:spPr>
      </p:sp>
      <p:sp>
        <p:nvSpPr>
          <p:cNvPr id="11" name="TextBox 11"/>
          <p:cNvSpPr txBox="1"/>
          <p:nvPr/>
        </p:nvSpPr>
        <p:spPr>
          <a:xfrm>
            <a:off x="0" y="1965789"/>
            <a:ext cx="20700646" cy="7605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53440" lvl="1" indent="-426720" algn="l">
              <a:lnSpc>
                <a:spcPts val="5535"/>
              </a:lnSpc>
              <a:buFont typeface="Arial" panose="020B0604020202020204"/>
              <a:buChar char="•"/>
            </a:pPr>
            <a:r>
              <a:rPr lang="en-US" sz="3950">
                <a:solidFill>
                  <a:srgbClr val="396FBE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User selects an environment (classroom, traffic, residential, industrial)</a:t>
            </a:r>
            <a:endParaRPr lang="en-US" sz="3950">
              <a:solidFill>
                <a:srgbClr val="396FBE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  <a:p>
            <a:pPr marL="853440" lvl="1" indent="-426720" algn="l">
              <a:lnSpc>
                <a:spcPts val="5535"/>
              </a:lnSpc>
              <a:buFont typeface="Arial" panose="020B0604020202020204"/>
              <a:buChar char="•"/>
            </a:pPr>
            <a:r>
              <a:rPr lang="en-US" sz="3950">
                <a:solidFill>
                  <a:srgbClr val="396FBE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System loads corresponding base CO₂ values</a:t>
            </a:r>
            <a:endParaRPr lang="en-US" sz="3950">
              <a:solidFill>
                <a:srgbClr val="396FBE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  <a:p>
            <a:pPr marL="853440" lvl="1" indent="-426720" algn="l">
              <a:lnSpc>
                <a:spcPts val="5535"/>
              </a:lnSpc>
              <a:buFont typeface="Arial" panose="020B0604020202020204"/>
              <a:buChar char="•"/>
            </a:pPr>
            <a:r>
              <a:rPr lang="en-US" sz="3950">
                <a:solidFill>
                  <a:srgbClr val="396FBE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Simulated sensor generates live CO₂ updates</a:t>
            </a:r>
            <a:endParaRPr lang="en-US" sz="3950">
              <a:solidFill>
                <a:srgbClr val="396FBE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  <a:p>
            <a:pPr marL="853440" lvl="1" indent="-426720" algn="l">
              <a:lnSpc>
                <a:spcPts val="5535"/>
              </a:lnSpc>
              <a:buFont typeface="Arial" panose="020B0604020202020204"/>
              <a:buChar char="•"/>
            </a:pPr>
            <a:r>
              <a:rPr lang="en-US" sz="3950">
                <a:solidFill>
                  <a:srgbClr val="396FBE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User triggers MOF</a:t>
            </a:r>
            <a:endParaRPr lang="en-US" sz="3950">
              <a:solidFill>
                <a:srgbClr val="396FBE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  <a:p>
            <a:pPr algn="l">
              <a:lnSpc>
                <a:spcPts val="5535"/>
              </a:lnSpc>
            </a:pPr>
            <a:r>
              <a:rPr lang="en-US" sz="3950">
                <a:solidFill>
                  <a:srgbClr val="396FBE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  capture simulation</a:t>
            </a:r>
            <a:endParaRPr lang="en-US" sz="3950">
              <a:solidFill>
                <a:srgbClr val="396FBE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  <a:p>
            <a:pPr marL="853440" lvl="1" indent="-426720" algn="l">
              <a:lnSpc>
                <a:spcPts val="5535"/>
              </a:lnSpc>
              <a:buFont typeface="Arial" panose="020B0604020202020204"/>
              <a:buChar char="•"/>
            </a:pPr>
            <a:r>
              <a:rPr lang="en-US" sz="3950">
                <a:solidFill>
                  <a:srgbClr val="396FBE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MOF efficiency logic is </a:t>
            </a:r>
            <a:endParaRPr lang="en-US" sz="3950">
              <a:solidFill>
                <a:srgbClr val="396FBE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  <a:p>
            <a:pPr algn="l">
              <a:lnSpc>
                <a:spcPts val="5535"/>
              </a:lnSpc>
            </a:pPr>
            <a:r>
              <a:rPr lang="en-US" sz="3950">
                <a:solidFill>
                  <a:srgbClr val="396FBE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  applied</a:t>
            </a:r>
            <a:endParaRPr lang="en-US" sz="3950">
              <a:solidFill>
                <a:srgbClr val="396FBE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  <a:p>
            <a:pPr marL="853440" lvl="1" indent="-426720" algn="l">
              <a:lnSpc>
                <a:spcPts val="5535"/>
              </a:lnSpc>
              <a:buFont typeface="Arial" panose="020B0604020202020204"/>
              <a:buChar char="•"/>
            </a:pPr>
            <a:r>
              <a:rPr lang="en-US" sz="3950">
                <a:solidFill>
                  <a:srgbClr val="396FBE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Updated CO₂ values are</a:t>
            </a:r>
            <a:endParaRPr lang="en-US" sz="3950">
              <a:solidFill>
                <a:srgbClr val="396FBE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  <a:p>
            <a:pPr algn="l">
              <a:lnSpc>
                <a:spcPts val="5535"/>
              </a:lnSpc>
            </a:pPr>
            <a:r>
              <a:rPr lang="en-US" sz="3950">
                <a:solidFill>
                  <a:srgbClr val="396FBE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 calculated</a:t>
            </a:r>
            <a:endParaRPr lang="en-US" sz="3950">
              <a:solidFill>
                <a:srgbClr val="396FBE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  <a:p>
            <a:pPr marL="853440" lvl="1" indent="-426720" algn="l">
              <a:lnSpc>
                <a:spcPts val="5535"/>
              </a:lnSpc>
              <a:buFont typeface="Arial" panose="020B0604020202020204"/>
              <a:buChar char="•"/>
            </a:pPr>
            <a:r>
              <a:rPr lang="en-US" sz="3950">
                <a:solidFill>
                  <a:srgbClr val="396FBE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Results are displayed on </a:t>
            </a:r>
            <a:endParaRPr lang="en-US" sz="3950">
              <a:solidFill>
                <a:srgbClr val="396FBE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  <a:p>
            <a:pPr algn="l">
              <a:lnSpc>
                <a:spcPts val="5535"/>
              </a:lnSpc>
            </a:pPr>
            <a:r>
              <a:rPr lang="en-US" sz="3950">
                <a:solidFill>
                  <a:srgbClr val="396FBE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  real-time   dashboards</a:t>
            </a:r>
            <a:endParaRPr lang="en-US" sz="3950">
              <a:solidFill>
                <a:srgbClr val="396FBE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5958041" y="4186004"/>
            <a:ext cx="12112721" cy="5384878"/>
          </a:xfrm>
          <a:custGeom>
            <a:avLst/>
            <a:gdLst/>
            <a:ahLst/>
            <a:cxnLst/>
            <a:rect l="l" t="t" r="r" b="b"/>
            <a:pathLst>
              <a:path w="12112721" h="5384878">
                <a:moveTo>
                  <a:pt x="0" y="0"/>
                </a:moveTo>
                <a:lnTo>
                  <a:pt x="12112721" y="0"/>
                </a:lnTo>
                <a:lnTo>
                  <a:pt x="12112721" y="5384878"/>
                </a:lnTo>
                <a:lnTo>
                  <a:pt x="0" y="538487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89" b="-189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1496905" y="38100"/>
            <a:ext cx="6760615" cy="2797205"/>
          </a:xfrm>
          <a:custGeom>
            <a:avLst/>
            <a:gdLst/>
            <a:ahLst/>
            <a:cxnLst/>
            <a:rect l="l" t="t" r="r" b="b"/>
            <a:pathLst>
              <a:path w="6760615" h="2797205">
                <a:moveTo>
                  <a:pt x="0" y="2797205"/>
                </a:moveTo>
                <a:lnTo>
                  <a:pt x="6760616" y="2797205"/>
                </a:lnTo>
                <a:lnTo>
                  <a:pt x="6760616" y="0"/>
                </a:lnTo>
                <a:lnTo>
                  <a:pt x="0" y="0"/>
                </a:lnTo>
                <a:lnTo>
                  <a:pt x="0" y="2797205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241097" y="1229692"/>
            <a:ext cx="7868854" cy="1399904"/>
            <a:chOff x="0" y="0"/>
            <a:chExt cx="2089061" cy="40386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89061" cy="403863"/>
            </a:xfrm>
            <a:custGeom>
              <a:avLst/>
              <a:gdLst/>
              <a:ahLst/>
              <a:cxnLst/>
              <a:rect l="l" t="t" r="r" b="b"/>
              <a:pathLst>
                <a:path w="2089061" h="403863">
                  <a:moveTo>
                    <a:pt x="0" y="0"/>
                  </a:moveTo>
                  <a:lnTo>
                    <a:pt x="2089061" y="0"/>
                  </a:lnTo>
                  <a:lnTo>
                    <a:pt x="2089061" y="403863"/>
                  </a:lnTo>
                  <a:lnTo>
                    <a:pt x="0" y="403863"/>
                  </a:lnTo>
                  <a:close/>
                </a:path>
              </a:pathLst>
            </a:custGeom>
            <a:solidFill>
              <a:srgbClr val="A9CBEC">
                <a:alpha val="31765"/>
              </a:srgbClr>
            </a:solidFill>
            <a:ln w="38100" cap="sq">
              <a:solidFill>
                <a:srgbClr val="396FBE">
                  <a:alpha val="31765"/>
                </a:srgbClr>
              </a:solidFill>
              <a:prstDash val="dash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089061" cy="451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429374" y="1158471"/>
            <a:ext cx="9399021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dirty="0">
                <a:solidFill>
                  <a:srgbClr val="396FBE"/>
                </a:solidFill>
                <a:latin typeface="Arbutus Slab" panose="02000000000000000000"/>
                <a:ea typeface="Arbutus Slab" panose="02000000000000000000"/>
                <a:cs typeface="Arbutus Slab" panose="02000000000000000000"/>
                <a:sym typeface="Arbutus Slab" panose="02000000000000000000"/>
              </a:rPr>
              <a:t>Result</a:t>
            </a:r>
            <a:endParaRPr lang="en-US" sz="7500" dirty="0">
              <a:solidFill>
                <a:srgbClr val="396FBE"/>
              </a:solidFill>
              <a:latin typeface="Arbutus Slab" panose="02000000000000000000"/>
              <a:ea typeface="Arbutus Slab" panose="02000000000000000000"/>
              <a:cs typeface="Arbutus Slab" panose="02000000000000000000"/>
              <a:sym typeface="Arbutus Slab" panose="02000000000000000000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2113534" y="1651271"/>
            <a:ext cx="618178" cy="618178"/>
          </a:xfrm>
          <a:custGeom>
            <a:avLst/>
            <a:gdLst/>
            <a:ahLst/>
            <a:cxnLst/>
            <a:rect l="l" t="t" r="r" b="b"/>
            <a:pathLst>
              <a:path w="618178" h="618178">
                <a:moveTo>
                  <a:pt x="0" y="0"/>
                </a:moveTo>
                <a:lnTo>
                  <a:pt x="618178" y="0"/>
                </a:lnTo>
                <a:lnTo>
                  <a:pt x="618178" y="618179"/>
                </a:lnTo>
                <a:lnTo>
                  <a:pt x="0" y="6181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530690" y="1651271"/>
            <a:ext cx="618178" cy="618178"/>
          </a:xfrm>
          <a:custGeom>
            <a:avLst/>
            <a:gdLst/>
            <a:ahLst/>
            <a:cxnLst/>
            <a:rect l="l" t="t" r="r" b="b"/>
            <a:pathLst>
              <a:path w="618178" h="618178">
                <a:moveTo>
                  <a:pt x="0" y="0"/>
                </a:moveTo>
                <a:lnTo>
                  <a:pt x="618178" y="0"/>
                </a:lnTo>
                <a:lnTo>
                  <a:pt x="618178" y="618179"/>
                </a:lnTo>
                <a:lnTo>
                  <a:pt x="0" y="6181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39825" y="3535445"/>
            <a:ext cx="9381730" cy="5722855"/>
          </a:xfrm>
          <a:custGeom>
            <a:avLst/>
            <a:gdLst/>
            <a:ahLst/>
            <a:cxnLst/>
            <a:rect l="l" t="t" r="r" b="b"/>
            <a:pathLst>
              <a:path w="9381730" h="5722855">
                <a:moveTo>
                  <a:pt x="0" y="0"/>
                </a:moveTo>
                <a:lnTo>
                  <a:pt x="9381730" y="0"/>
                </a:lnTo>
                <a:lnTo>
                  <a:pt x="9381730" y="5722855"/>
                </a:lnTo>
                <a:lnTo>
                  <a:pt x="0" y="57228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9955996" y="2552560"/>
            <a:ext cx="7868854" cy="681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2010" lvl="1" indent="-421005" algn="just">
              <a:lnSpc>
                <a:spcPts val="5460"/>
              </a:lnSpc>
              <a:buFont typeface="Arial" panose="020B0604020202020204"/>
              <a:buChar char="•"/>
            </a:pPr>
            <a:r>
              <a:rPr lang="en-US" sz="3900">
                <a:solidFill>
                  <a:srgbClr val="396FBE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Clear visualization of CO₂ levels across environments</a:t>
            </a:r>
            <a:endParaRPr lang="en-US" sz="3900">
              <a:solidFill>
                <a:srgbClr val="396FBE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  <a:p>
            <a:pPr marL="842010" lvl="1" indent="-421005" algn="just">
              <a:lnSpc>
                <a:spcPts val="5460"/>
              </a:lnSpc>
              <a:buFont typeface="Arial" panose="020B0604020202020204"/>
              <a:buChar char="•"/>
            </a:pPr>
            <a:r>
              <a:rPr lang="en-US" sz="3900">
                <a:solidFill>
                  <a:srgbClr val="396FBE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Visible CO₂ reduction after MOF capture simulation</a:t>
            </a:r>
            <a:endParaRPr lang="en-US" sz="3900">
              <a:solidFill>
                <a:srgbClr val="396FBE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  <a:p>
            <a:pPr marL="842010" lvl="1" indent="-421005" algn="just">
              <a:lnSpc>
                <a:spcPts val="5460"/>
              </a:lnSpc>
              <a:buFont typeface="Arial" panose="020B0604020202020204"/>
              <a:buChar char="•"/>
            </a:pPr>
            <a:r>
              <a:rPr lang="en-US" sz="3900">
                <a:solidFill>
                  <a:srgbClr val="396FBE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Percentage reduction displayed</a:t>
            </a:r>
            <a:endParaRPr lang="en-US" sz="3900">
              <a:solidFill>
                <a:srgbClr val="396FBE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  <a:p>
            <a:pPr marL="842010" lvl="1" indent="-421005" algn="just">
              <a:lnSpc>
                <a:spcPts val="5460"/>
              </a:lnSpc>
              <a:buFont typeface="Arial" panose="020B0604020202020204"/>
              <a:buChar char="•"/>
            </a:pPr>
            <a:r>
              <a:rPr lang="en-US" sz="3900">
                <a:solidFill>
                  <a:srgbClr val="396FBE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CO₂ trend charts show variation over time</a:t>
            </a:r>
            <a:endParaRPr lang="en-US" sz="3900">
              <a:solidFill>
                <a:srgbClr val="396FBE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  <a:p>
            <a:pPr marL="842010" lvl="1" indent="-421005" algn="just">
              <a:lnSpc>
                <a:spcPts val="5460"/>
              </a:lnSpc>
              <a:buFont typeface="Arial" panose="020B0604020202020204"/>
              <a:buChar char="•"/>
            </a:pPr>
            <a:r>
              <a:rPr lang="en-US" sz="3900">
                <a:solidFill>
                  <a:srgbClr val="396FBE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Prediction line estimates upcoming CO₂ values</a:t>
            </a:r>
            <a:endParaRPr lang="en-US" sz="3900">
              <a:solidFill>
                <a:srgbClr val="396FBE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  <a:p>
            <a:pPr marL="842010" lvl="1" indent="-421005" algn="just">
              <a:lnSpc>
                <a:spcPts val="5460"/>
              </a:lnSpc>
              <a:buFont typeface="Arial" panose="020B0604020202020204"/>
              <a:buChar char="•"/>
            </a:pPr>
            <a:r>
              <a:rPr lang="en-US" sz="3900">
                <a:solidFill>
                  <a:srgbClr val="396FBE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Alerts indicate high CO₂ conditions</a:t>
            </a:r>
            <a:endParaRPr lang="en-US" sz="3900">
              <a:solidFill>
                <a:srgbClr val="396FBE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1527385" y="0"/>
            <a:ext cx="6760615" cy="2797205"/>
          </a:xfrm>
          <a:custGeom>
            <a:avLst/>
            <a:gdLst/>
            <a:ahLst/>
            <a:cxnLst/>
            <a:rect l="l" t="t" r="r" b="b"/>
            <a:pathLst>
              <a:path w="6760615" h="2797205">
                <a:moveTo>
                  <a:pt x="0" y="2797205"/>
                </a:moveTo>
                <a:lnTo>
                  <a:pt x="6760616" y="2797205"/>
                </a:lnTo>
                <a:lnTo>
                  <a:pt x="6760616" y="0"/>
                </a:lnTo>
                <a:lnTo>
                  <a:pt x="0" y="0"/>
                </a:lnTo>
                <a:lnTo>
                  <a:pt x="0" y="2797205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178048" y="1106138"/>
            <a:ext cx="7931903" cy="1533418"/>
            <a:chOff x="0" y="0"/>
            <a:chExt cx="2089061" cy="40386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89061" cy="403863"/>
            </a:xfrm>
            <a:custGeom>
              <a:avLst/>
              <a:gdLst/>
              <a:ahLst/>
              <a:cxnLst/>
              <a:rect l="l" t="t" r="r" b="b"/>
              <a:pathLst>
                <a:path w="2089061" h="403863">
                  <a:moveTo>
                    <a:pt x="0" y="0"/>
                  </a:moveTo>
                  <a:lnTo>
                    <a:pt x="2089061" y="0"/>
                  </a:lnTo>
                  <a:lnTo>
                    <a:pt x="2089061" y="403863"/>
                  </a:lnTo>
                  <a:lnTo>
                    <a:pt x="0" y="403863"/>
                  </a:lnTo>
                  <a:close/>
                </a:path>
              </a:pathLst>
            </a:custGeom>
            <a:solidFill>
              <a:srgbClr val="A9CBEC">
                <a:alpha val="31765"/>
              </a:srgbClr>
            </a:solidFill>
            <a:ln w="38100" cap="sq">
              <a:solidFill>
                <a:srgbClr val="396FBE">
                  <a:alpha val="31765"/>
                </a:srgbClr>
              </a:solidFill>
              <a:prstDash val="dash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089061" cy="451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429374" y="1158471"/>
            <a:ext cx="9399021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396FBE"/>
                </a:solidFill>
                <a:latin typeface="Arbutus Slab" panose="02000000000000000000"/>
                <a:ea typeface="Arbutus Slab" panose="02000000000000000000"/>
                <a:cs typeface="Arbutus Slab" panose="02000000000000000000"/>
                <a:sym typeface="Arbutus Slab" panose="02000000000000000000"/>
              </a:rPr>
              <a:t>Conclusion</a:t>
            </a:r>
            <a:endParaRPr lang="en-US" sz="7500">
              <a:solidFill>
                <a:srgbClr val="396FBE"/>
              </a:solidFill>
              <a:latin typeface="Arbutus Slab" panose="02000000000000000000"/>
              <a:ea typeface="Arbutus Slab" panose="02000000000000000000"/>
              <a:cs typeface="Arbutus Slab" panose="02000000000000000000"/>
              <a:sym typeface="Arbutus Slab" panose="02000000000000000000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2113534" y="1651271"/>
            <a:ext cx="618178" cy="618178"/>
          </a:xfrm>
          <a:custGeom>
            <a:avLst/>
            <a:gdLst/>
            <a:ahLst/>
            <a:cxnLst/>
            <a:rect l="l" t="t" r="r" b="b"/>
            <a:pathLst>
              <a:path w="618178" h="618178">
                <a:moveTo>
                  <a:pt x="0" y="0"/>
                </a:moveTo>
                <a:lnTo>
                  <a:pt x="618178" y="0"/>
                </a:lnTo>
                <a:lnTo>
                  <a:pt x="618178" y="618179"/>
                </a:lnTo>
                <a:lnTo>
                  <a:pt x="0" y="6181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 flipH="1">
            <a:off x="985838" y="1672126"/>
            <a:ext cx="0" cy="4531593"/>
          </a:xfrm>
          <a:prstGeom prst="line">
            <a:avLst/>
          </a:prstGeom>
          <a:ln w="28575" cap="flat">
            <a:solidFill>
              <a:srgbClr val="A9CBEC"/>
            </a:solidFill>
            <a:prstDash val="sysDot"/>
            <a:headEnd type="diamond" w="lg" len="lg"/>
            <a:tailEnd type="diamond" w="lg" len="lg"/>
          </a:ln>
        </p:spPr>
      </p:sp>
      <p:sp>
        <p:nvSpPr>
          <p:cNvPr id="9" name="AutoShape 9"/>
          <p:cNvSpPr/>
          <p:nvPr/>
        </p:nvSpPr>
        <p:spPr>
          <a:xfrm>
            <a:off x="17302162" y="4292346"/>
            <a:ext cx="0" cy="4531593"/>
          </a:xfrm>
          <a:prstGeom prst="line">
            <a:avLst/>
          </a:prstGeom>
          <a:ln w="28575" cap="flat">
            <a:solidFill>
              <a:srgbClr val="A9CBEC"/>
            </a:solidFill>
            <a:prstDash val="sysDot"/>
            <a:headEnd type="diamond" w="lg" len="lg"/>
            <a:tailEnd type="diamond" w="lg" len="lg"/>
          </a:ln>
        </p:spPr>
      </p:sp>
      <p:sp>
        <p:nvSpPr>
          <p:cNvPr id="10" name="Freeform 10"/>
          <p:cNvSpPr/>
          <p:nvPr/>
        </p:nvSpPr>
        <p:spPr>
          <a:xfrm>
            <a:off x="5530690" y="1651271"/>
            <a:ext cx="618178" cy="618178"/>
          </a:xfrm>
          <a:custGeom>
            <a:avLst/>
            <a:gdLst/>
            <a:ahLst/>
            <a:cxnLst/>
            <a:rect l="l" t="t" r="r" b="b"/>
            <a:pathLst>
              <a:path w="618178" h="618178">
                <a:moveTo>
                  <a:pt x="0" y="0"/>
                </a:moveTo>
                <a:lnTo>
                  <a:pt x="618178" y="0"/>
                </a:lnTo>
                <a:lnTo>
                  <a:pt x="618178" y="618179"/>
                </a:lnTo>
                <a:lnTo>
                  <a:pt x="0" y="6181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85837" y="3309573"/>
            <a:ext cx="15485103" cy="3320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1055" lvl="1" indent="-410210" algn="l">
              <a:lnSpc>
                <a:spcPts val="5320"/>
              </a:lnSpc>
              <a:buFont typeface="Arial" panose="020B0604020202020204"/>
              <a:buChar char="•"/>
            </a:pPr>
            <a:r>
              <a:rPr lang="en-US" sz="3800">
                <a:solidFill>
                  <a:srgbClr val="396FBE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Successfully demonstrates CO₂ monitoring using a simulation-based system</a:t>
            </a:r>
            <a:endParaRPr lang="en-US" sz="3800">
              <a:solidFill>
                <a:srgbClr val="396FBE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  <a:p>
            <a:pPr marL="821055" lvl="1" indent="-410210" algn="l">
              <a:lnSpc>
                <a:spcPts val="5320"/>
              </a:lnSpc>
              <a:buFont typeface="Arial" panose="020B0604020202020204"/>
              <a:buChar char="•"/>
            </a:pPr>
            <a:r>
              <a:rPr lang="en-US" sz="3800">
                <a:solidFill>
                  <a:srgbClr val="396FBE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Clearly visualizes the impact of MOF-based CO₂ capture</a:t>
            </a:r>
            <a:endParaRPr lang="en-US" sz="3800">
              <a:solidFill>
                <a:srgbClr val="396FBE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  <a:p>
            <a:pPr marL="821055" lvl="1" indent="-410210" algn="l">
              <a:lnSpc>
                <a:spcPts val="5320"/>
              </a:lnSpc>
              <a:buFont typeface="Arial" panose="020B0604020202020204"/>
              <a:buChar char="•"/>
            </a:pPr>
            <a:r>
              <a:rPr lang="en-US" sz="3800">
                <a:solidFill>
                  <a:srgbClr val="396FBE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Provides transparent and honest system behavior without real sensors or AI</a:t>
            </a:r>
            <a:endParaRPr lang="en-US" sz="3800">
              <a:solidFill>
                <a:srgbClr val="396FBE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  <a:p>
            <a:pPr marL="821055" lvl="1" indent="-410210" algn="l">
              <a:lnSpc>
                <a:spcPts val="5320"/>
              </a:lnSpc>
              <a:buFont typeface="Arial" panose="020B0604020202020204"/>
              <a:buChar char="•"/>
            </a:pPr>
            <a:r>
              <a:rPr lang="en-US" sz="3800">
                <a:solidFill>
                  <a:srgbClr val="396FBE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Supports education, planning, and policy evaluation</a:t>
            </a:r>
            <a:endParaRPr lang="en-US" sz="3800">
              <a:solidFill>
                <a:srgbClr val="396FBE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  <a:p>
            <a:pPr marL="821055" lvl="1" indent="-410210" algn="l">
              <a:lnSpc>
                <a:spcPts val="5320"/>
              </a:lnSpc>
              <a:buFont typeface="Arial" panose="020B0604020202020204"/>
              <a:buChar char="•"/>
            </a:pPr>
            <a:r>
              <a:rPr lang="en-US" sz="3800">
                <a:solidFill>
                  <a:srgbClr val="396FBE"/>
                </a:solidFill>
                <a:latin typeface="Sondos" panose="00000500000000000000"/>
                <a:ea typeface="Sondos" panose="00000500000000000000"/>
                <a:cs typeface="Sondos" panose="00000500000000000000"/>
                <a:sym typeface="Sondos" panose="00000500000000000000"/>
              </a:rPr>
              <a:t>Designed with a scalable architecture for future real-world deployment</a:t>
            </a:r>
            <a:endParaRPr lang="en-US" sz="3800">
              <a:solidFill>
                <a:srgbClr val="396FBE"/>
              </a:solidFill>
              <a:latin typeface="Sondos" panose="00000500000000000000"/>
              <a:ea typeface="Sondos" panose="00000500000000000000"/>
              <a:cs typeface="Sondos" panose="00000500000000000000"/>
              <a:sym typeface="Sondos" panose="0000050000000000000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1065709" y="-273080"/>
            <a:ext cx="9197973" cy="3805661"/>
          </a:xfrm>
          <a:custGeom>
            <a:avLst/>
            <a:gdLst/>
            <a:ahLst/>
            <a:cxnLst/>
            <a:rect l="l" t="t" r="r" b="b"/>
            <a:pathLst>
              <a:path w="9197973" h="3805661">
                <a:moveTo>
                  <a:pt x="0" y="3805662"/>
                </a:moveTo>
                <a:lnTo>
                  <a:pt x="9197974" y="3805662"/>
                </a:lnTo>
                <a:lnTo>
                  <a:pt x="9197974" y="0"/>
                </a:lnTo>
                <a:lnTo>
                  <a:pt x="0" y="0"/>
                </a:lnTo>
                <a:lnTo>
                  <a:pt x="0" y="3805662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045328" y="6847144"/>
            <a:ext cx="9197973" cy="3805661"/>
          </a:xfrm>
          <a:custGeom>
            <a:avLst/>
            <a:gdLst/>
            <a:ahLst/>
            <a:cxnLst/>
            <a:rect l="l" t="t" r="r" b="b"/>
            <a:pathLst>
              <a:path w="9197973" h="3805661">
                <a:moveTo>
                  <a:pt x="9197973" y="0"/>
                </a:moveTo>
                <a:lnTo>
                  <a:pt x="0" y="0"/>
                </a:lnTo>
                <a:lnTo>
                  <a:pt x="0" y="3805661"/>
                </a:lnTo>
                <a:lnTo>
                  <a:pt x="9197973" y="3805661"/>
                </a:lnTo>
                <a:lnTo>
                  <a:pt x="9197973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227678" y="3713557"/>
            <a:ext cx="11878846" cy="2040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15"/>
              </a:lnSpc>
            </a:pPr>
            <a:r>
              <a:rPr lang="en-US" sz="14595">
                <a:solidFill>
                  <a:srgbClr val="244B85"/>
                </a:solidFill>
                <a:latin typeface="Arbutus Slab" panose="02000000000000000000"/>
                <a:ea typeface="Arbutus Slab" panose="02000000000000000000"/>
                <a:cs typeface="Arbutus Slab" panose="02000000000000000000"/>
                <a:sym typeface="Arbutus Slab" panose="02000000000000000000"/>
              </a:rPr>
              <a:t>Thank You</a:t>
            </a:r>
            <a:endParaRPr lang="en-US" sz="14595">
              <a:solidFill>
                <a:srgbClr val="244B85"/>
              </a:solidFill>
              <a:latin typeface="Arbutus Slab" panose="02000000000000000000"/>
              <a:ea typeface="Arbutus Slab" panose="02000000000000000000"/>
              <a:cs typeface="Arbutus Slab" panose="02000000000000000000"/>
              <a:sym typeface="Arbutus Slab" panose="02000000000000000000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897880" y="6527006"/>
            <a:ext cx="6492240" cy="0"/>
          </a:xfrm>
          <a:prstGeom prst="line">
            <a:avLst/>
          </a:prstGeom>
          <a:ln w="85725" cap="flat">
            <a:solidFill>
              <a:srgbClr val="A9CBEC"/>
            </a:solidFill>
            <a:prstDash val="sysDot"/>
            <a:headEnd type="diamond" w="lg" len="lg"/>
            <a:tailEnd type="diamond" w="lg" len="lg"/>
          </a:ln>
        </p:spPr>
      </p:sp>
      <p:sp>
        <p:nvSpPr>
          <p:cNvPr id="6" name="AutoShape 6"/>
          <p:cNvSpPr/>
          <p:nvPr/>
        </p:nvSpPr>
        <p:spPr>
          <a:xfrm flipH="1">
            <a:off x="985838" y="1672126"/>
            <a:ext cx="0" cy="4531593"/>
          </a:xfrm>
          <a:prstGeom prst="line">
            <a:avLst/>
          </a:prstGeom>
          <a:ln w="28575" cap="flat">
            <a:solidFill>
              <a:srgbClr val="A9CBEC"/>
            </a:solidFill>
            <a:prstDash val="sysDot"/>
            <a:headEnd type="diamond" w="lg" len="lg"/>
            <a:tailEnd type="diamond" w="lg" len="lg"/>
          </a:ln>
        </p:spPr>
      </p:sp>
      <p:sp>
        <p:nvSpPr>
          <p:cNvPr id="7" name="AutoShape 7"/>
          <p:cNvSpPr/>
          <p:nvPr/>
        </p:nvSpPr>
        <p:spPr>
          <a:xfrm>
            <a:off x="17302162" y="4292346"/>
            <a:ext cx="0" cy="4531593"/>
          </a:xfrm>
          <a:prstGeom prst="line">
            <a:avLst/>
          </a:prstGeom>
          <a:ln w="28575" cap="flat">
            <a:solidFill>
              <a:srgbClr val="A9CBEC"/>
            </a:solidFill>
            <a:prstDash val="sysDot"/>
            <a:headEnd type="diamond" w="lg" len="lg"/>
            <a:tailEnd type="diamond" w="lg" len="lg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2662</Words>
  <Application>WPS Presentation</Application>
  <PresentationFormat>Custom</PresentationFormat>
  <Paragraphs>89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SimSun</vt:lpstr>
      <vt:lpstr>Wingdings</vt:lpstr>
      <vt:lpstr>Sondos Bold</vt:lpstr>
      <vt:lpstr>Sondos</vt:lpstr>
      <vt:lpstr>Arbutus Slab</vt:lpstr>
      <vt:lpstr>Arial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CO₂ levels are increasing rapidly and impact climate change Monitoring CO₂ in real environments is difficult and costly Carbon capture technologies like MOFs are emerging but not well understood This project introduces a software-based system to visualize</dc:title>
  <dc:creator>matta sreehaasa</dc:creator>
  <cp:lastModifiedBy>Nighaar Taneem</cp:lastModifiedBy>
  <cp:revision>3</cp:revision>
  <dcterms:created xsi:type="dcterms:W3CDTF">2006-08-16T00:00:00Z</dcterms:created>
  <dcterms:modified xsi:type="dcterms:W3CDTF">2025-12-26T14:09:41Z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AF9D6818A7F74DA5ACE2A97FB9F85E86_13</vt:lpwstr>
  </property>
  <property fmtid="{D5CDD505-2E9C-101B-9397-08002B2CF9AE}" pid="3" name="KSOProductBuildVer">
    <vt:lpwstr>1033-12.2.0.23196</vt:lpwstr>
  </property>
</Properties>
</file>